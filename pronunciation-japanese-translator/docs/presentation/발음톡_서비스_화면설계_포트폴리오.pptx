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22330b1429464ace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63c9c1f825054679" Type="http://schemas.openxmlformats.org/officeDocument/2006/relationships/theme" Target="../theme/theme1.xml"  /><Relationship Id="Rf6bda3d4178141c4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da3d41781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71500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66750" y="6381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AI TRANSLATION SERVICE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1238250"/>
            <a:ext cx="304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48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704850" y="2038350"/>
            <a:ext cx="581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노이즈에 강건한 발음 기반 AI 번역기</a:t>
            </a:r>
            <a:endParaRPr sz="22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723900" y="2743200"/>
            <a:ext cx="6286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정확한 철자나 띄어쓰기를 몰라도, 들리는 발음 그대로 입력하면 Seq2Seq Attention 모델이 의미 있는 문장을 예측합니다.</a:t>
            </a:r>
            <a:endParaRPr sz="16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723900" y="407670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933450" y="42672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Figma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933450" y="4591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화면설계</a:t>
            </a:r>
            <a:endParaRPr sz="120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2781300" y="407670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2990850" y="42672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PyTorch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990850" y="4591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실제 모델</a:t>
            </a:r>
            <a:endParaRPr sz="120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4838700" y="407670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5048250" y="42672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Web Demo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5048250" y="4591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동작 검증</a:t>
            </a:r>
            <a:endParaRPr sz="120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8239125" y="723900"/>
            <a:ext cx="2333625" cy="466725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444484" y="966597"/>
            <a:ext cx="1120140" cy="2613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1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1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617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444484" y="1321308"/>
            <a:ext cx="1773555" cy="1866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8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808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808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8444484" y="1657350"/>
            <a:ext cx="1922907" cy="11201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8444484" y="1844040"/>
            <a:ext cx="821436" cy="16802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88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언어 선택</a:t>
            </a:r>
            <a:endParaRPr sz="882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8444484" y="2077403"/>
            <a:ext cx="1922907" cy="429387"/>
          </a:xfrm>
          <a:prstGeom prst="roundRect">
            <a:avLst>
              <a:gd name="adj" fmla="val 17746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8593836" y="2198751"/>
            <a:ext cx="933450" cy="1866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88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일본어</a:t>
            </a:r>
            <a:endParaRPr sz="882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8444484" y="2702814"/>
            <a:ext cx="821436" cy="16802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88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882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8444484" y="2936177"/>
            <a:ext cx="1922907" cy="821436"/>
          </a:xfrm>
          <a:prstGeom prst="roundRect">
            <a:avLst>
              <a:gd name="adj" fmla="val 9276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8575167" y="3150870"/>
            <a:ext cx="1586865" cy="2240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88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아리가또_ 고자이마스</a:t>
            </a:r>
            <a:endParaRPr sz="882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8444484" y="3953637"/>
            <a:ext cx="1922907" cy="896112"/>
          </a:xfrm>
          <a:prstGeom prst="roundRect">
            <a:avLst>
              <a:gd name="adj" fmla="val 8503"/>
            </a:avLst>
          </a:prstGeom>
          <a:solidFill>
            <a:srgbClr val="dcebff"/>
          </a:solidFill>
          <a:ln w="9525">
            <a:solidFill>
              <a:srgbClr val="7bb5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575167" y="4102989"/>
            <a:ext cx="933450" cy="16802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80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AI 예측 문장</a:t>
            </a:r>
            <a:endParaRPr sz="80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8575167" y="4383024"/>
            <a:ext cx="1400175" cy="2613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9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39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1397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575167" y="4681728"/>
            <a:ext cx="1400175" cy="1493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defRPr>
            </a:pPr>
            <a:r>
              <a:rPr sz="625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rPr>
              <a:t>Seq2Seq Attention 예측 결과</a:t>
            </a:r>
            <a:endParaRPr sz="625" b="0">
              <a:solidFill>
                <a:srgbClr val="13a8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PROBLEM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번역기는 정확한 원문을 요구하지만, 사용자는 발음만 기억합니다.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철자 지식이 부족한 상황에서는 기존 번역 입력 방식 자체가 장벽이 됩니다.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723900" y="240030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009650" y="26860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사용자 입력 현실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1009650" y="31432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외국어를 듣고 한국어식 발음으로만 기억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009650" y="37338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오타, 반복 문자, 띄어쓰기 흔들림 발생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009650" y="43624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예: 아리가또_ 고자이마스</a:t>
            </a:r>
            <a:endParaRPr sz="13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4438650" y="240030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4724400" y="2686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기존 번역기의 한계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4724400" y="314325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정확한 원어 문장 입력이 필요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724400" y="37338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 표기 오류를 의미로 복원하기 어려움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724400" y="43624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사용자는 번역 전에 철자부터 알아야 함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153400" y="240030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dcebff"/>
          </a:solidFill>
          <a:ln w="9525">
            <a:solidFill>
              <a:srgbClr val="8fc0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439150" y="26860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설계 목표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8439150" y="314325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들리는 발음을 그대로 입력해도 결과를 예측하는 번역 흐름</a:t>
            </a:r>
            <a:endParaRPr sz="1725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8439150" y="41910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정확한 철자가 아니라 발음 패턴을 중심으로 접근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SOLUTION FLOW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입력을 문자 단위 시퀀스로 보고, AI가 목표 문장을 생성합니다.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Figma 화면의 입력-결과 흐름은 실제 모델의 추론 흐름과 연결됩니다.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666750" y="2914650"/>
            <a:ext cx="1762125" cy="1123950"/>
          </a:xfrm>
          <a:prstGeom prst="roundRect">
            <a:avLst>
              <a:gd name="adj" fmla="val 6780"/>
            </a:avLst>
          </a:prstGeom>
          <a:solidFill>
            <a:srgbClr val="dcebff"/>
          </a:solidFill>
          <a:ln w="9525">
            <a:solidFill>
              <a:srgbClr val="8fc0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57250" y="31242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57250" y="3467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아리가또_ 고자이마스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2857500" y="2914650"/>
            <a:ext cx="17621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3048000" y="31242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문자 인코딩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3048000" y="3467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&lt;sos&gt; + 문자 토큰 + &lt;eos&gt;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5048250" y="2914650"/>
            <a:ext cx="17621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5238750" y="31242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Encoder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5238750" y="3467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GRU가 입력 시퀀스 문맥 학습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7239000" y="2914650"/>
            <a:ext cx="17621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7429500" y="31242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Attention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7429500" y="3467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중요한 입력 위치를 참고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9429750" y="2914650"/>
            <a:ext cx="176212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9620250" y="31242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결과 생성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9620250" y="3467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2476500" y="3467100"/>
            <a:ext cx="323850" cy="28575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2667000" y="3314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4667250" y="3467100"/>
            <a:ext cx="323850" cy="28575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4857750" y="3314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6858000" y="3467100"/>
            <a:ext cx="323850" cy="28575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7048500" y="3314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9048750" y="3467100"/>
            <a:ext cx="323850" cy="28575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9239250" y="3314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1409700" y="4762500"/>
            <a:ext cx="9372600" cy="762000"/>
          </a:xfrm>
          <a:prstGeom prst="roundRect">
            <a:avLst>
              <a:gd name="adj" fmla="val 10000"/>
            </a:avLst>
          </a:prstGeom>
          <a:solidFill>
            <a:srgbClr val="f6f9fe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1714500" y="49720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핵심 설계 문장</a:t>
            </a:r>
            <a:endParaRPr sz="120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3143250" y="49339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사용자는 원문을 몰라도 발음을 입력하고, 서비스는 문자 단위 Seq2Seq Attention 모델의 예측 결과를 보여줍니다.</a:t>
            </a:r>
            <a:endParaRPr sz="1575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SCREEN DESIGN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모바일 화면은 발음 입력과 AI 예측 결과를 가장 크게 보여주도록 설계했습니다.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Figma 화면설계는 사용자가 바로 입력하고 결과를 확인하는 단순한 흐름에 집중했습니다.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781050" y="2266950"/>
            <a:ext cx="17145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931926" y="2445258"/>
            <a:ext cx="82296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18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931926" y="2705862"/>
            <a:ext cx="130302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594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931926" y="2952750"/>
            <a:ext cx="1412748" cy="8230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343406" y="3076194"/>
            <a:ext cx="603504" cy="603504"/>
          </a:xfrm>
          <a:prstGeom prst="ellipse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1521714" y="3199638"/>
            <a:ext cx="246888" cy="3017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4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94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♪</a:t>
            </a:r>
            <a:endParaRPr sz="1944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89660" y="3830574"/>
            <a:ext cx="109728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91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들리는 발음 그대로</a:t>
            </a:r>
            <a:endParaRPr sz="91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082802" y="4091178"/>
            <a:ext cx="1165860" cy="2880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4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54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철자 몰라도 AI가 문장을 예측합니다</a:t>
            </a:r>
            <a:endParaRPr sz="54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945642" y="5215890"/>
            <a:ext cx="1385316" cy="342900"/>
          </a:xfrm>
          <a:prstGeom prst="roundRect">
            <a:avLst>
              <a:gd name="adj" fmla="val 22222"/>
            </a:avLst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945642" y="5282565"/>
            <a:ext cx="138531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시작하기</a:t>
            </a:r>
            <a:endParaRPr sz="648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1143000" y="5857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온보딩</a:t>
            </a:r>
            <a:endParaRPr sz="13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3448050" y="2266950"/>
            <a:ext cx="17145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3598926" y="2445258"/>
            <a:ext cx="82296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18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3598926" y="2705862"/>
            <a:ext cx="130302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594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3598926" y="2952750"/>
            <a:ext cx="1412748" cy="8230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3598926" y="3089910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언어 선택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3598926" y="3261360"/>
            <a:ext cx="1412748" cy="315468"/>
          </a:xfrm>
          <a:prstGeom prst="roundRect">
            <a:avLst>
              <a:gd name="adj" fmla="val 24155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3708654" y="3350514"/>
            <a:ext cx="68580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일본어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3598926" y="3720846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3598926" y="3892296"/>
            <a:ext cx="1412748" cy="603504"/>
          </a:xfrm>
          <a:prstGeom prst="roundRect">
            <a:avLst>
              <a:gd name="adj" fmla="val 12626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3694938" y="4050030"/>
            <a:ext cx="1165860" cy="164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 고자이마스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3598926" y="5188458"/>
            <a:ext cx="1412748" cy="342900"/>
          </a:xfrm>
          <a:prstGeom prst="roundRect">
            <a:avLst>
              <a:gd name="adj" fmla="val 22222"/>
            </a:avLst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3598926" y="5255133"/>
            <a:ext cx="1412748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번역하기 →</a:t>
            </a:r>
            <a:endParaRPr sz="648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3810000" y="5857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13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6115050" y="2266950"/>
            <a:ext cx="17145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6265926" y="2445258"/>
            <a:ext cx="82296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18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6265926" y="2705862"/>
            <a:ext cx="130302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594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6265926" y="2952750"/>
            <a:ext cx="1412748" cy="8230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" name=""/>
          <p:cNvSpPr>
            <a:spLocks noGrp="1"/>
          </p:cNvSpPr>
          <p:nvPr/>
        </p:nvSpPr>
        <p:spPr>
          <a:xfrm>
            <a:off x="6265926" y="3089910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언어 선택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" name=""/>
          <p:cNvSpPr>
            <a:spLocks noGrp="1"/>
          </p:cNvSpPr>
          <p:nvPr/>
        </p:nvSpPr>
        <p:spPr>
          <a:xfrm>
            <a:off x="6265926" y="3261360"/>
            <a:ext cx="1412748" cy="315468"/>
          </a:xfrm>
          <a:prstGeom prst="roundRect">
            <a:avLst>
              <a:gd name="adj" fmla="val 24155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7" name=""/>
          <p:cNvSpPr>
            <a:spLocks noGrp="1"/>
          </p:cNvSpPr>
          <p:nvPr/>
        </p:nvSpPr>
        <p:spPr>
          <a:xfrm>
            <a:off x="6375654" y="3350514"/>
            <a:ext cx="68580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일본어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"/>
          <p:cNvSpPr>
            <a:spLocks noGrp="1"/>
          </p:cNvSpPr>
          <p:nvPr/>
        </p:nvSpPr>
        <p:spPr>
          <a:xfrm>
            <a:off x="6265926" y="3720846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"/>
          <p:cNvSpPr>
            <a:spLocks noGrp="1"/>
          </p:cNvSpPr>
          <p:nvPr/>
        </p:nvSpPr>
        <p:spPr>
          <a:xfrm>
            <a:off x="6265926" y="3892296"/>
            <a:ext cx="1412748" cy="603504"/>
          </a:xfrm>
          <a:prstGeom prst="roundRect">
            <a:avLst>
              <a:gd name="adj" fmla="val 12626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0" name=""/>
          <p:cNvSpPr>
            <a:spLocks noGrp="1"/>
          </p:cNvSpPr>
          <p:nvPr/>
        </p:nvSpPr>
        <p:spPr>
          <a:xfrm>
            <a:off x="6361938" y="4050030"/>
            <a:ext cx="1165860" cy="164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 고자이마스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"/>
          <p:cNvSpPr>
            <a:spLocks noGrp="1"/>
          </p:cNvSpPr>
          <p:nvPr/>
        </p:nvSpPr>
        <p:spPr>
          <a:xfrm>
            <a:off x="6265926" y="4639818"/>
            <a:ext cx="1412748" cy="658368"/>
          </a:xfrm>
          <a:prstGeom prst="roundRect">
            <a:avLst>
              <a:gd name="adj" fmla="val 11574"/>
            </a:avLst>
          </a:prstGeom>
          <a:solidFill>
            <a:srgbClr val="dcebff"/>
          </a:solidFill>
          <a:ln w="9525">
            <a:solidFill>
              <a:srgbClr val="7bb5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" name=""/>
          <p:cNvSpPr>
            <a:spLocks noGrp="1"/>
          </p:cNvSpPr>
          <p:nvPr/>
        </p:nvSpPr>
        <p:spPr>
          <a:xfrm>
            <a:off x="6361938" y="4749546"/>
            <a:ext cx="685800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AI 예측 문장</a:t>
            </a:r>
            <a:endParaRPr sz="594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" name=""/>
          <p:cNvSpPr>
            <a:spLocks noGrp="1"/>
          </p:cNvSpPr>
          <p:nvPr/>
        </p:nvSpPr>
        <p:spPr>
          <a:xfrm>
            <a:off x="6361938" y="4955286"/>
            <a:ext cx="1028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6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026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1026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"/>
          <p:cNvSpPr>
            <a:spLocks noGrp="1"/>
          </p:cNvSpPr>
          <p:nvPr/>
        </p:nvSpPr>
        <p:spPr>
          <a:xfrm>
            <a:off x="6361938" y="5174742"/>
            <a:ext cx="1028700" cy="1097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9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defRPr>
            </a:pPr>
            <a:r>
              <a:rPr sz="459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rPr>
              <a:t>Seq2Seq Attention 예측 결과</a:t>
            </a:r>
            <a:endParaRPr sz="459" b="0">
              <a:solidFill>
                <a:srgbClr val="13a8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"/>
          <p:cNvSpPr>
            <a:spLocks noGrp="1"/>
          </p:cNvSpPr>
          <p:nvPr/>
        </p:nvSpPr>
        <p:spPr>
          <a:xfrm>
            <a:off x="6477000" y="5857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결과 확인</a:t>
            </a:r>
            <a:endParaRPr sz="13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"/>
          <p:cNvSpPr>
            <a:spLocks noGrp="1"/>
          </p:cNvSpPr>
          <p:nvPr/>
        </p:nvSpPr>
        <p:spPr>
          <a:xfrm>
            <a:off x="8782050" y="2266950"/>
            <a:ext cx="17145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7" name=""/>
          <p:cNvSpPr>
            <a:spLocks noGrp="1"/>
          </p:cNvSpPr>
          <p:nvPr/>
        </p:nvSpPr>
        <p:spPr>
          <a:xfrm>
            <a:off x="8932926" y="2445258"/>
            <a:ext cx="82296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8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18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"/>
          <p:cNvSpPr>
            <a:spLocks noGrp="1"/>
          </p:cNvSpPr>
          <p:nvPr/>
        </p:nvSpPr>
        <p:spPr>
          <a:xfrm>
            <a:off x="8932926" y="2705862"/>
            <a:ext cx="130302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594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"/>
          <p:cNvSpPr>
            <a:spLocks noGrp="1"/>
          </p:cNvSpPr>
          <p:nvPr/>
        </p:nvSpPr>
        <p:spPr>
          <a:xfrm>
            <a:off x="8932926" y="2952750"/>
            <a:ext cx="1412748" cy="8230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0" name=""/>
          <p:cNvSpPr>
            <a:spLocks noGrp="1"/>
          </p:cNvSpPr>
          <p:nvPr/>
        </p:nvSpPr>
        <p:spPr>
          <a:xfrm>
            <a:off x="8932926" y="3089910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언어 선택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"/>
          <p:cNvSpPr>
            <a:spLocks noGrp="1"/>
          </p:cNvSpPr>
          <p:nvPr/>
        </p:nvSpPr>
        <p:spPr>
          <a:xfrm>
            <a:off x="8932926" y="3261360"/>
            <a:ext cx="1412748" cy="315468"/>
          </a:xfrm>
          <a:prstGeom prst="roundRect">
            <a:avLst>
              <a:gd name="adj" fmla="val 24155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2" name=""/>
          <p:cNvSpPr>
            <a:spLocks noGrp="1"/>
          </p:cNvSpPr>
          <p:nvPr/>
        </p:nvSpPr>
        <p:spPr>
          <a:xfrm>
            <a:off x="9042654" y="3350514"/>
            <a:ext cx="685800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일본어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3" name=""/>
          <p:cNvSpPr>
            <a:spLocks noGrp="1"/>
          </p:cNvSpPr>
          <p:nvPr/>
        </p:nvSpPr>
        <p:spPr>
          <a:xfrm>
            <a:off x="8932926" y="3720846"/>
            <a:ext cx="603504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648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4" name=""/>
          <p:cNvSpPr>
            <a:spLocks noGrp="1"/>
          </p:cNvSpPr>
          <p:nvPr/>
        </p:nvSpPr>
        <p:spPr>
          <a:xfrm>
            <a:off x="8932926" y="3892296"/>
            <a:ext cx="1412748" cy="603504"/>
          </a:xfrm>
          <a:prstGeom prst="roundRect">
            <a:avLst>
              <a:gd name="adj" fmla="val 12626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5" name=""/>
          <p:cNvSpPr>
            <a:spLocks noGrp="1"/>
          </p:cNvSpPr>
          <p:nvPr/>
        </p:nvSpPr>
        <p:spPr>
          <a:xfrm>
            <a:off x="9028938" y="4050030"/>
            <a:ext cx="1165860" cy="164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8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아리가또_ 고자이마스</a:t>
            </a:r>
            <a:endParaRPr sz="648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"/>
          <p:cNvSpPr>
            <a:spLocks noGrp="1"/>
          </p:cNvSpPr>
          <p:nvPr/>
        </p:nvSpPr>
        <p:spPr>
          <a:xfrm>
            <a:off x="8932926" y="4639818"/>
            <a:ext cx="1412748" cy="658368"/>
          </a:xfrm>
          <a:prstGeom prst="roundRect">
            <a:avLst>
              <a:gd name="adj" fmla="val 11574"/>
            </a:avLst>
          </a:prstGeom>
          <a:solidFill>
            <a:srgbClr val="dcebff"/>
          </a:solidFill>
          <a:ln w="9525">
            <a:solidFill>
              <a:srgbClr val="7bb5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7" name=""/>
          <p:cNvSpPr>
            <a:spLocks noGrp="1"/>
          </p:cNvSpPr>
          <p:nvPr/>
        </p:nvSpPr>
        <p:spPr>
          <a:xfrm>
            <a:off x="9028938" y="4749546"/>
            <a:ext cx="685800" cy="1234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59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AI 예측 문장</a:t>
            </a:r>
            <a:endParaRPr sz="594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8" name=""/>
          <p:cNvSpPr>
            <a:spLocks noGrp="1"/>
          </p:cNvSpPr>
          <p:nvPr/>
        </p:nvSpPr>
        <p:spPr>
          <a:xfrm>
            <a:off x="9028938" y="4955286"/>
            <a:ext cx="1028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6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026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1026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9" name=""/>
          <p:cNvSpPr>
            <a:spLocks noGrp="1"/>
          </p:cNvSpPr>
          <p:nvPr/>
        </p:nvSpPr>
        <p:spPr>
          <a:xfrm>
            <a:off x="9028938" y="5174742"/>
            <a:ext cx="1028700" cy="1097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9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defRPr>
            </a:pPr>
            <a:r>
              <a:rPr sz="459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rPr>
              <a:t>Seq2Seq Attention 예측 결과</a:t>
            </a:r>
            <a:endParaRPr sz="459" b="0">
              <a:solidFill>
                <a:srgbClr val="13a8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0" name=""/>
          <p:cNvSpPr>
            <a:spLocks noGrp="1"/>
          </p:cNvSpPr>
          <p:nvPr/>
        </p:nvSpPr>
        <p:spPr>
          <a:xfrm>
            <a:off x="9144000" y="5857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노이즈 데모</a:t>
            </a:r>
            <a:endParaRPr sz="13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1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2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ROBUST DEMO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오타와 특수문자가 섞여도 같은 의미를 예측하는 데모를 구성했습니다.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노이즈에 강건한 번역기라는 프로젝트 차별점을 포트폴리오에서 직접 보여줍니다.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95350" y="2381250"/>
            <a:ext cx="10401300" cy="838200"/>
          </a:xfrm>
          <a:prstGeom prst="roundRect">
            <a:avLst>
              <a:gd name="adj" fmla="val 9091"/>
            </a:avLst>
          </a:prstGeom>
          <a:solidFill>
            <a:srgbClr val="f6f9fe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181100" y="26479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일반 입력</a:t>
            </a:r>
            <a:endParaRPr sz="120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2857500" y="26193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 고자이마스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6438900" y="25908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210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7239000" y="25908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21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895350" y="3486150"/>
            <a:ext cx="10401300" cy="838200"/>
          </a:xfrm>
          <a:prstGeom prst="roundRect">
            <a:avLst>
              <a:gd name="adj" fmla="val 9091"/>
            </a:avLst>
          </a:prstGeom>
          <a:solidFill>
            <a:srgbClr val="dceb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181100" y="37528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특수문자 포함</a:t>
            </a:r>
            <a:endParaRPr sz="120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2857500" y="37242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아리가또_ 고자이마스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6438900" y="36957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210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7239000" y="36957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21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95350" y="4591050"/>
            <a:ext cx="10401300" cy="838200"/>
          </a:xfrm>
          <a:prstGeom prst="roundRect">
            <a:avLst>
              <a:gd name="adj" fmla="val 9091"/>
            </a:avLst>
          </a:prstGeom>
          <a:solidFill>
            <a:srgbClr val="ddf8e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1181100" y="48577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반복 오타 포함</a:t>
            </a:r>
            <a:endParaRPr sz="120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2857500" y="48291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아리가또또 고자이마스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6438900" y="48006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210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7239000" y="48006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21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952500" y="57531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해석 포인트</a:t>
            </a:r>
            <a:endParaRPr sz="120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2190750" y="57150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정확한 일본어 원문 입력이 아니라, 한국어식 발음 표기의 흔들림을 받아들이는 서비스 흐름으로 설계했습니다.</a:t>
            </a:r>
            <a:endParaRPr sz="15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IMPLEMENTATION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화면 뒤에는 PyTorch Seq2Seq Attention 모델이 실제로 연결됩니다.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학습, 평가, 추론 파일이 분리되어 있어 포트폴리오에서 구현 근거를 명확히 설명할 수 있습니다.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742950" y="2324100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066800" y="26479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모델 구조</a:t>
            </a:r>
            <a:endParaRPr sz="18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1162050" y="3276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162050" y="3381375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Char Vocab</a:t>
            </a:r>
            <a:endParaRPr sz="1125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2667000" y="327660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667000" y="33813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GRU Encoder</a:t>
            </a:r>
            <a:endParaRPr sz="1125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4267200" y="3276600"/>
            <a:ext cx="1047750" cy="400050"/>
          </a:xfrm>
          <a:prstGeom prst="roundRect">
            <a:avLst>
              <a:gd name="adj" fmla="val 19048"/>
            </a:avLst>
          </a:prstGeom>
          <a:solidFill>
            <a:srgbClr val="dd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4267200" y="33813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Attention</a:t>
            </a:r>
            <a:endParaRPr sz="1125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2000250" y="4038600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2000250" y="41433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GRU Decoder</a:t>
            </a:r>
            <a:endParaRPr sz="112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3695700" y="4038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3695700" y="4143375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문장 예측</a:t>
            </a:r>
            <a:endParaRPr sz="112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143000" y="481965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입력 발음을 문자 단위 토큰으로 바꾸고, Attention Decoder가 결과 토큰을 생성합니다.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6172200" y="2324100"/>
            <a:ext cx="531495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496050" y="26479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구현 파일</a:t>
            </a:r>
            <a:endParaRPr sz="180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6553200" y="32004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model/seq2seq.py</a:t>
            </a:r>
            <a:endParaRPr sz="13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8763000" y="32004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Encoder, Attention, Decoder, Seq2Seq 구조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6553200" y="36766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model/train.py</a:t>
            </a:r>
            <a:endParaRPr sz="13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8763000" y="3676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BLEU 검증, Early Stopping, 최적 모델 저장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6553200" y="41529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model/infer.py</a:t>
            </a:r>
            <a:endParaRPr sz="13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763000" y="41529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model_best.pt 로드 후 사용자 입력 추론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6553200" y="46291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utility/utils.py</a:t>
            </a:r>
            <a:endParaRPr sz="13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763000" y="4629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CharVocab, Dataset 전처리</a:t>
            </a:r>
            <a:endParaRPr sz="1125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07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WORKING DEMO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001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Figma 설계를 실제 웹 데모로 옮겨 모델 추론까지 확인했습니다.</a:t>
            </a:r>
            <a:endParaRPr sz="28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28650" y="1619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포트폴리오에는 화면설계와 함께 실제 동작 캡처 또는 실행 영상을 붙일 수 있습니다.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95350" y="2114550"/>
            <a:ext cx="1857375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058799" y="2307717"/>
            <a:ext cx="891540" cy="2080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8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287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발음톡</a:t>
            </a:r>
            <a:endParaRPr sz="1287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1058799" y="2590038"/>
            <a:ext cx="1411605" cy="1485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644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발음을 입력하고 AI 번역을 받아보세요</a:t>
            </a:r>
            <a:endParaRPr sz="644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058799" y="2857500"/>
            <a:ext cx="1530477" cy="8915"/>
          </a:xfrm>
          <a:prstGeom prst="rect">
            <a:avLst/>
          </a:prstGeom>
          <a:solidFill>
            <a:srgbClr val="d9e2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058799" y="3006090"/>
            <a:ext cx="653796" cy="1337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70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언어 선택</a:t>
            </a:r>
            <a:endParaRPr sz="702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1058799" y="3191828"/>
            <a:ext cx="1530477" cy="341757"/>
          </a:xfrm>
          <a:prstGeom prst="roundRect">
            <a:avLst>
              <a:gd name="adj" fmla="val 22297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177671" y="3288411"/>
            <a:ext cx="742950" cy="1485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70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일본어</a:t>
            </a:r>
            <a:endParaRPr sz="702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058799" y="3689604"/>
            <a:ext cx="653796" cy="1337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70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발음 입력</a:t>
            </a:r>
            <a:endParaRPr sz="702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1058799" y="3875342"/>
            <a:ext cx="1530477" cy="653796"/>
          </a:xfrm>
          <a:prstGeom prst="roundRect">
            <a:avLst>
              <a:gd name="adj" fmla="val 11655"/>
            </a:avLst>
          </a:prstGeom>
          <a:solidFill>
            <a:srgbClr val="f8fafc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1162812" y="4046220"/>
            <a:ext cx="1263015" cy="1783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702" b="0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아리가또_ 고자이마스</a:t>
            </a:r>
            <a:endParaRPr sz="702" b="0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1058799" y="4685157"/>
            <a:ext cx="1530477" cy="713232"/>
          </a:xfrm>
          <a:prstGeom prst="roundRect">
            <a:avLst>
              <a:gd name="adj" fmla="val 10684"/>
            </a:avLst>
          </a:prstGeom>
          <a:solidFill>
            <a:srgbClr val="dcebff"/>
          </a:solidFill>
          <a:ln w="9525">
            <a:solidFill>
              <a:srgbClr val="7bb5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1162812" y="4804029"/>
            <a:ext cx="742950" cy="1337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644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AI 예측 문장</a:t>
            </a:r>
            <a:endParaRPr sz="644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162812" y="5026914"/>
            <a:ext cx="1114425" cy="2080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112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sz="1112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1162812" y="5264658"/>
            <a:ext cx="1114425" cy="1188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96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defRPr>
            </a:pPr>
            <a:r>
              <a:rPr sz="496" b="0">
                <a:solidFill>
                  <a:srgbClr val="13a87d"/>
                </a:solidFill>
                <a:latin typeface="맑은 고딕"/>
                <a:ea typeface="맑은 고딕"/>
                <a:cs typeface="맑은 고딕"/>
              </a:rPr>
              <a:t>Seq2Seq Attention 예측 결과</a:t>
            </a:r>
            <a:endParaRPr sz="496" b="0">
              <a:solidFill>
                <a:srgbClr val="13a8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4095750" y="2381250"/>
            <a:ext cx="6762750" cy="904875"/>
          </a:xfrm>
          <a:prstGeom prst="roundRect">
            <a:avLst>
              <a:gd name="adj" fmla="val 8421"/>
            </a:avLst>
          </a:prstGeom>
          <a:solidFill>
            <a:srgbClr val="f6f9fe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4419600" y="26289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1. 사용자가 발음 입력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7277100" y="264795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예: 아리가또_ 고자이마스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4095750" y="3562350"/>
            <a:ext cx="6762750" cy="904875"/>
          </a:xfrm>
          <a:prstGeom prst="roundRect">
            <a:avLst>
              <a:gd name="adj" fmla="val 8421"/>
            </a:avLst>
          </a:prstGeom>
          <a:solidFill>
            <a:srgbClr val="dcebff"/>
          </a:solidFill>
          <a:ln w="9525">
            <a:solidFill>
              <a:srgbClr val="8fc0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4419600" y="3810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2. 로컬 서버가 모델 실행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7277100" y="38290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model_best.pt + src/tgt vocab 로드</a:t>
            </a:r>
            <a:endParaRPr sz="1350" b="0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4095750" y="4743450"/>
            <a:ext cx="6762750" cy="904875"/>
          </a:xfrm>
          <a:prstGeom prst="roundRect">
            <a:avLst>
              <a:gd name="adj" fmla="val 8421"/>
            </a:avLst>
          </a:prstGeom>
          <a:solidFill>
            <a:srgbClr val="ddf8ef"/>
          </a:solidFill>
          <a:ln w="9525">
            <a:solidFill>
              <a:srgbClr val="d9e2e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4419600" y="499110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1220"/>
                </a:solidFill>
                <a:latin typeface="맑은 고딕"/>
                <a:ea typeface="맑은 고딕"/>
                <a:cs typeface="맑은 고딕"/>
              </a:rPr>
              <a:t>3. 웹 화면에 예측 결과 표시</a:t>
            </a:r>
            <a:endParaRPr sz="1650" b="1">
              <a:solidFill>
                <a:srgbClr val="0a122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7753350" y="5010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a87d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13a87d"/>
                </a:solidFill>
                <a:latin typeface="맑은 고딕"/>
                <a:ea typeface="맑은 고딕"/>
                <a:cs typeface="맑은 고딕"/>
              </a:rPr>
              <a:t>AI 예측 문장: 감사합니다.</a:t>
            </a:r>
            <a:endParaRPr sz="1350" b="1">
              <a:solidFill>
                <a:srgbClr val="13a8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07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000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2f7df6"/>
                </a:solidFill>
                <a:latin typeface="맑은 고딕"/>
                <a:ea typeface="맑은 고딕"/>
                <a:cs typeface="맑은 고딕"/>
              </a:rPr>
              <a:t>08</a:t>
            </a:r>
            <a:endParaRPr sz="1050" b="1">
              <a:solidFill>
                <a:srgbClr val="2f7df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0125" y="495300"/>
            <a:ext cx="609600" cy="19050"/>
          </a:xfrm>
          <a:prstGeom prst="rect">
            <a:avLst/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752600" y="3810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WRAP-UP</a:t>
            </a:r>
            <a:endParaRPr sz="1050" b="1">
              <a:solidFill>
                <a:srgbClr val="66708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89535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발음톡은 화면설계와 실제 AI 구현을 함께 보여주는 서비스 포트폴리오입니다.</a:t>
            </a:r>
            <a:endParaRPr sz="285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781050" y="2286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성과</a:t>
            </a:r>
            <a:endParaRPr sz="18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38200" y="2914650"/>
            <a:ext cx="10382250" cy="476250"/>
          </a:xfrm>
          <a:prstGeom prst="roundRect">
            <a:avLst>
              <a:gd name="adj" fmla="val 16000"/>
            </a:avLst>
          </a:prstGeom>
          <a:solidFill>
            <a:srgbClr val="152238"/>
          </a:solidFill>
          <a:ln w="9525">
            <a:solidFill>
              <a:srgbClr val="26354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123950" y="30480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UX 설계</a:t>
            </a:r>
            <a:endParaRPr sz="1275" b="1">
              <a:solidFill>
                <a:srgbClr val="dceb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2571750" y="3038475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Figma로 발음 입력 → AI 예측 → 결과 확인 흐름 설계</a:t>
            </a:r>
            <a:endParaRPr sz="1350" b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38200" y="3600450"/>
            <a:ext cx="10382250" cy="476250"/>
          </a:xfrm>
          <a:prstGeom prst="roundRect">
            <a:avLst>
              <a:gd name="adj" fmla="val 16000"/>
            </a:avLst>
          </a:prstGeom>
          <a:solidFill>
            <a:srgbClr val="101a2b"/>
          </a:solidFill>
          <a:ln w="9525">
            <a:solidFill>
              <a:srgbClr val="26354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123950" y="37338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AI 구현</a:t>
            </a:r>
            <a:endParaRPr sz="1275" b="1">
              <a:solidFill>
                <a:srgbClr val="dceb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571750" y="3724275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PyTorch Seq2Seq Attention 모델로 발음 입력을 문장으로 예측</a:t>
            </a:r>
            <a:endParaRPr sz="1350" b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38200" y="4286250"/>
            <a:ext cx="10382250" cy="476250"/>
          </a:xfrm>
          <a:prstGeom prst="roundRect">
            <a:avLst>
              <a:gd name="adj" fmla="val 16000"/>
            </a:avLst>
          </a:prstGeom>
          <a:solidFill>
            <a:srgbClr val="152238"/>
          </a:solidFill>
          <a:ln w="9525">
            <a:solidFill>
              <a:srgbClr val="26354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123950" y="44196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데모 연결</a:t>
            </a:r>
            <a:endParaRPr sz="1275" b="1">
              <a:solidFill>
                <a:srgbClr val="dceb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2571750" y="4410075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 화면에서 실제 model_best.pt 추론 결과를 표시</a:t>
            </a:r>
            <a:endParaRPr sz="1350" b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838200" y="4972050"/>
            <a:ext cx="10382250" cy="476250"/>
          </a:xfrm>
          <a:prstGeom prst="roundRect">
            <a:avLst>
              <a:gd name="adj" fmla="val 16000"/>
            </a:avLst>
          </a:prstGeom>
          <a:solidFill>
            <a:srgbClr val="101a2b"/>
          </a:solidFill>
          <a:ln w="9525">
            <a:solidFill>
              <a:srgbClr val="26354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1123950" y="51054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차별점</a:t>
            </a:r>
            <a:endParaRPr sz="1275" b="1">
              <a:solidFill>
                <a:srgbClr val="dceb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2571750" y="5095875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오타·특수문자·띄어쓰기 노이즈가 포함된 발음 입력 대응</a:t>
            </a:r>
            <a:endParaRPr sz="1350" b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838200" y="5867400"/>
            <a:ext cx="10382250" cy="419100"/>
          </a:xfrm>
          <a:prstGeom prst="roundRect">
            <a:avLst>
              <a:gd name="adj" fmla="val 18182"/>
            </a:avLst>
          </a:prstGeom>
          <a:solidFill>
            <a:srgbClr val="2f7d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1143000" y="5981700"/>
            <a:ext cx="885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제출 포인트: 화면설계 산출물 + 실제 모델 데모를 함께 제시해 서비스 구현 가능성을 보여줍니다.</a:t>
            </a:r>
            <a:endParaRPr sz="142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09600" y="64960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0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발음톡 · 서비스 화면설계 포트폴리오</a:t>
            </a:r>
            <a:endParaRPr sz="750" b="0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1220450" y="6477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98a2b3"/>
                </a:solidFill>
                <a:latin typeface="맑은 고딕"/>
                <a:ea typeface="맑은 고딕"/>
                <a:cs typeface="맑은 고딕"/>
              </a:rPr>
              <a:t>08</a:t>
            </a:r>
            <a:endParaRPr sz="825" b="1">
              <a:solidFill>
                <a:srgbClr val="98a2b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613</ep:Words>
  <ep:PresentationFormat>Converted Presentation</ep:PresentationFormat>
  <ep:Paragraphs>179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2026-05-31T03:04:25.315</dcterms:modified>
  <cp:revision>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